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20"/>
  </p:notesMasterIdLst>
  <p:sldIdLst>
    <p:sldId id="256" r:id="rId2"/>
    <p:sldId id="258" r:id="rId3"/>
    <p:sldId id="299" r:id="rId4"/>
    <p:sldId id="292" r:id="rId5"/>
    <p:sldId id="259" r:id="rId6"/>
    <p:sldId id="300" r:id="rId7"/>
    <p:sldId id="301" r:id="rId8"/>
    <p:sldId id="297" r:id="rId9"/>
    <p:sldId id="294" r:id="rId10"/>
    <p:sldId id="298" r:id="rId11"/>
    <p:sldId id="302" r:id="rId12"/>
    <p:sldId id="303" r:id="rId13"/>
    <p:sldId id="304" r:id="rId14"/>
    <p:sldId id="305" r:id="rId15"/>
    <p:sldId id="306" r:id="rId16"/>
    <p:sldId id="307" r:id="rId17"/>
    <p:sldId id="308"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1" autoAdjust="0"/>
    <p:restoredTop sz="94404" autoAdjust="0"/>
  </p:normalViewPr>
  <p:slideViewPr>
    <p:cSldViewPr snapToGrid="0">
      <p:cViewPr varScale="1">
        <p:scale>
          <a:sx n="87" d="100"/>
          <a:sy n="87" d="100"/>
        </p:scale>
        <p:origin x="259"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 Reddy" userId="76ef8fb9e94781dd" providerId="LiveId" clId="{2A4F6D7D-49DA-4C28-9D22-FC508DBD17B3}"/>
    <pc:docChg chg="modSld">
      <pc:chgData name="Hari Reddy" userId="76ef8fb9e94781dd" providerId="LiveId" clId="{2A4F6D7D-49DA-4C28-9D22-FC508DBD17B3}" dt="2026-10-07T16:16:41.161" v="51" actId="20577"/>
      <pc:docMkLst>
        <pc:docMk/>
      </pc:docMkLst>
      <pc:sldChg chg="modSp mod">
        <pc:chgData name="Hari Reddy" userId="76ef8fb9e94781dd" providerId="LiveId" clId="{2A4F6D7D-49DA-4C28-9D22-FC508DBD17B3}" dt="2026-10-07T16:16:41.161" v="51" actId="20577"/>
        <pc:sldMkLst>
          <pc:docMk/>
          <pc:sldMk cId="3662675094" sldId="256"/>
        </pc:sldMkLst>
        <pc:spChg chg="mod">
          <ac:chgData name="Hari Reddy" userId="76ef8fb9e94781dd" providerId="LiveId" clId="{2A4F6D7D-49DA-4C28-9D22-FC508DBD17B3}" dt="2026-10-07T16:16:41.161" v="51" actId="20577"/>
          <ac:spMkLst>
            <pc:docMk/>
            <pc:sldMk cId="3662675094" sldId="256"/>
            <ac:spMk id="11" creationId="{2BFF26F6-D141-53AB-A721-4BFF71341E2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CA3EC7-EA7F-4B1C-A06A-2C23342580FE}"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D277-5B7B-446F-B37A-0B950138919F}" type="slidenum">
              <a:rPr lang="en-IN" smtClean="0"/>
              <a:t>‹#›</a:t>
            </a:fld>
            <a:endParaRPr lang="en-IN"/>
          </a:p>
        </p:txBody>
      </p:sp>
    </p:spTree>
    <p:extLst>
      <p:ext uri="{BB962C8B-B14F-4D97-AF65-F5344CB8AC3E}">
        <p14:creationId xmlns:p14="http://schemas.microsoft.com/office/powerpoint/2010/main" val="212949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45D277-5B7B-446F-B37A-0B950138919F}" type="slidenum">
              <a:rPr lang="en-IN" smtClean="0"/>
              <a:t>3</a:t>
            </a:fld>
            <a:endParaRPr lang="en-IN"/>
          </a:p>
        </p:txBody>
      </p:sp>
    </p:spTree>
    <p:extLst>
      <p:ext uri="{BB962C8B-B14F-4D97-AF65-F5344CB8AC3E}">
        <p14:creationId xmlns:p14="http://schemas.microsoft.com/office/powerpoint/2010/main" val="3158655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3693611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2927061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4055299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668689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164584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3442075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4047168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2635292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184687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49035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3FAADF-F9F8-4E23-8385-20E0770D1812}" type="datetimeFigureOut">
              <a:rPr lang="en-IN" smtClean="0"/>
              <a:pPr/>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ABDA3-12A8-4480-9ABA-3CB1AFDCE63D}" type="slidenum">
              <a:rPr lang="en-IN" smtClean="0"/>
              <a:pPr/>
              <a:t>‹#›</a:t>
            </a:fld>
            <a:endParaRPr lang="en-IN"/>
          </a:p>
        </p:txBody>
      </p:sp>
    </p:spTree>
    <p:extLst>
      <p:ext uri="{BB962C8B-B14F-4D97-AF65-F5344CB8AC3E}">
        <p14:creationId xmlns:p14="http://schemas.microsoft.com/office/powerpoint/2010/main" val="1164964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FAADF-F9F8-4E23-8385-20E0770D1812}" type="datetimeFigureOut">
              <a:rPr lang="en-IN" smtClean="0"/>
              <a:pPr/>
              <a:t>26-10-2026</a:t>
            </a:fld>
            <a:endParaRPr lang="en-IN"/>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8ABDA3-12A8-4480-9ABA-3CB1AFDCE63D}" type="slidenum">
              <a:rPr lang="en-IN" smtClean="0"/>
              <a:pPr/>
              <a:t>‹#›</a:t>
            </a:fld>
            <a:endParaRPr lang="en-IN"/>
          </a:p>
        </p:txBody>
      </p:sp>
    </p:spTree>
    <p:extLst>
      <p:ext uri="{BB962C8B-B14F-4D97-AF65-F5344CB8AC3E}">
        <p14:creationId xmlns:p14="http://schemas.microsoft.com/office/powerpoint/2010/main" val="74506285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F8629EC-80E3-BC31-D6F7-E7B85CB08311}"/>
              </a:ext>
            </a:extLst>
          </p:cNvPr>
          <p:cNvSpPr txBox="1"/>
          <p:nvPr/>
        </p:nvSpPr>
        <p:spPr>
          <a:xfrm>
            <a:off x="2163095" y="294736"/>
            <a:ext cx="8495071" cy="461665"/>
          </a:xfrm>
          <a:prstGeom prst="rect">
            <a:avLst/>
          </a:prstGeom>
          <a:noFill/>
        </p:spPr>
        <p:txBody>
          <a:bodyPr wrap="square">
            <a:spAutoFit/>
          </a:bodyPr>
          <a:lstStyle/>
          <a:p>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084D854-5099-0BA4-6356-66341C7B270B}"/>
              </a:ext>
            </a:extLst>
          </p:cNvPr>
          <p:cNvSpPr txBox="1"/>
          <p:nvPr/>
        </p:nvSpPr>
        <p:spPr>
          <a:xfrm>
            <a:off x="529987" y="2853961"/>
            <a:ext cx="10740590"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LinkReveal  : Secure URL Expander with Threat Detection and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Network Security Analysis </a:t>
            </a:r>
            <a:endParaRPr lang="en-IN" sz="28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BFF26F6-D141-53AB-A721-4BFF71341E2E}"/>
              </a:ext>
            </a:extLst>
          </p:cNvPr>
          <p:cNvSpPr txBox="1"/>
          <p:nvPr/>
        </p:nvSpPr>
        <p:spPr>
          <a:xfrm>
            <a:off x="796158" y="3973639"/>
            <a:ext cx="5404834" cy="2345322"/>
          </a:xfrm>
          <a:prstGeom prst="rect">
            <a:avLst/>
          </a:prstGeom>
          <a:noFill/>
        </p:spPr>
        <p:txBody>
          <a:bodyPr wrap="square">
            <a:spAutoFit/>
          </a:bodyPr>
          <a:lstStyle/>
          <a:p>
            <a:pPr algn="l">
              <a:lnSpc>
                <a:spcPct val="150000"/>
              </a:lnSpc>
            </a:pPr>
            <a:r>
              <a:rPr lang="en-IN" sz="2000" b="1" dirty="0">
                <a:latin typeface="Times New Roman" panose="02020603050405020304" pitchFamily="18" charset="0"/>
                <a:cs typeface="Times New Roman" panose="02020603050405020304" pitchFamily="18" charset="0"/>
              </a:rPr>
              <a:t>Presented By:</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itchFamily="18" charset="0"/>
                <a:cs typeface="Times New Roman" pitchFamily="18" charset="0"/>
              </a:rPr>
              <a:t>S. Harichandana(192372136)</a:t>
            </a:r>
          </a:p>
          <a:p>
            <a:pPr>
              <a:lnSpc>
                <a:spcPct val="150000"/>
              </a:lnSpc>
            </a:pPr>
            <a:r>
              <a:rPr lang="en-US" sz="2000" dirty="0">
                <a:latin typeface="Times New Roman" pitchFamily="18" charset="0"/>
                <a:cs typeface="Times New Roman" pitchFamily="18" charset="0"/>
              </a:rPr>
              <a:t>B. Yasritha(192312348)</a:t>
            </a:r>
          </a:p>
          <a:p>
            <a:pPr>
              <a:lnSpc>
                <a:spcPct val="150000"/>
              </a:lnSpc>
            </a:pPr>
            <a:r>
              <a:rPr lang="en-US" sz="2000" dirty="0">
                <a:latin typeface="Times New Roman" pitchFamily="18" charset="0"/>
                <a:cs typeface="Times New Roman" pitchFamily="18" charset="0"/>
              </a:rPr>
              <a:t>N Mokshitha(192411085)</a:t>
            </a:r>
          </a:p>
          <a:p>
            <a:pPr>
              <a:lnSpc>
                <a:spcPct val="150000"/>
              </a:lnSpc>
            </a:pPr>
            <a:r>
              <a:rPr lang="en-US" sz="2000" dirty="0">
                <a:latin typeface="Times New Roman" pitchFamily="18" charset="0"/>
                <a:cs typeface="Times New Roman" pitchFamily="18" charset="0"/>
              </a:rPr>
              <a:t>P. Amrutha(192372359)</a:t>
            </a:r>
          </a:p>
        </p:txBody>
      </p:sp>
      <p:sp>
        <p:nvSpPr>
          <p:cNvPr id="13" name="TextBox 12">
            <a:extLst>
              <a:ext uri="{FF2B5EF4-FFF2-40B4-BE49-F238E27FC236}">
                <a16:creationId xmlns:a16="http://schemas.microsoft.com/office/drawing/2014/main" id="{B18214A9-4292-664F-D7A3-B7FD216D17AC}"/>
              </a:ext>
            </a:extLst>
          </p:cNvPr>
          <p:cNvSpPr txBox="1"/>
          <p:nvPr/>
        </p:nvSpPr>
        <p:spPr>
          <a:xfrm>
            <a:off x="7423467" y="4290793"/>
            <a:ext cx="4426715" cy="1427955"/>
          </a:xfrm>
          <a:prstGeom prst="rect">
            <a:avLst/>
          </a:prstGeom>
          <a:noFill/>
        </p:spPr>
        <p:txBody>
          <a:bodyPr wrap="square">
            <a:spAutoFit/>
          </a:bodyPr>
          <a:lstStyle/>
          <a:p>
            <a:pPr algn="l">
              <a:lnSpc>
                <a:spcPct val="150000"/>
              </a:lnSpc>
            </a:pPr>
            <a:r>
              <a:rPr lang="en-US" sz="2000" b="1" dirty="0">
                <a:latin typeface="Times New Roman" panose="02020603050405020304" pitchFamily="18" charset="0"/>
                <a:cs typeface="Times New Roman" panose="02020603050405020304" pitchFamily="18" charset="0"/>
              </a:rPr>
              <a:t>Guided By:</a:t>
            </a:r>
          </a:p>
          <a:p>
            <a:pPr algn="l">
              <a:lnSpc>
                <a:spcPct val="150000"/>
              </a:lnSpc>
            </a:pPr>
            <a:r>
              <a:rPr lang="en-US" sz="2000" dirty="0">
                <a:latin typeface="Times New Roman" panose="02020603050405020304" pitchFamily="18" charset="0"/>
                <a:cs typeface="Times New Roman" panose="02020603050405020304" pitchFamily="18" charset="0"/>
              </a:rPr>
              <a:t>Dr Ruby Elizabeth</a:t>
            </a:r>
          </a:p>
          <a:p>
            <a:pPr>
              <a:lnSpc>
                <a:spcPct val="150000"/>
              </a:lnSpc>
            </a:pPr>
            <a:r>
              <a:rPr lang="en-IN" sz="2000" dirty="0">
                <a:solidFill>
                  <a:schemeClr val="dk1"/>
                </a:solidFill>
                <a:latin typeface="Times New Roman"/>
                <a:ea typeface="Times New Roman"/>
                <a:cs typeface="Times New Roman"/>
                <a:sym typeface="Times New Roman"/>
              </a:rPr>
              <a:t>Professor , SIMATS Engineering</a:t>
            </a:r>
            <a:endParaRPr lang="en-IN" sz="2000" dirty="0"/>
          </a:p>
        </p:txBody>
      </p:sp>
      <p:sp>
        <p:nvSpPr>
          <p:cNvPr id="2" name="TextBox 1">
            <a:extLst>
              <a:ext uri="{FF2B5EF4-FFF2-40B4-BE49-F238E27FC236}">
                <a16:creationId xmlns:a16="http://schemas.microsoft.com/office/drawing/2014/main" id="{642F3FA8-D522-F847-EFD1-55FD4FAA4659}"/>
              </a:ext>
            </a:extLst>
          </p:cNvPr>
          <p:cNvSpPr txBox="1"/>
          <p:nvPr/>
        </p:nvSpPr>
        <p:spPr>
          <a:xfrm>
            <a:off x="3467100" y="1676024"/>
            <a:ext cx="525780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ITA1409 – Ethical Hacking</a:t>
            </a:r>
          </a:p>
        </p:txBody>
      </p:sp>
      <p:sp>
        <p:nvSpPr>
          <p:cNvPr id="3" name="TextBox 2">
            <a:extLst>
              <a:ext uri="{FF2B5EF4-FFF2-40B4-BE49-F238E27FC236}">
                <a16:creationId xmlns:a16="http://schemas.microsoft.com/office/drawing/2014/main" id="{4CD4ADC1-6753-6721-CB4B-EEB18C3C7F2F}"/>
              </a:ext>
            </a:extLst>
          </p:cNvPr>
          <p:cNvSpPr txBox="1"/>
          <p:nvPr/>
        </p:nvSpPr>
        <p:spPr>
          <a:xfrm>
            <a:off x="3467100" y="2172088"/>
            <a:ext cx="49772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Capstone Project Review</a:t>
            </a:r>
          </a:p>
        </p:txBody>
      </p:sp>
      <p:pic>
        <p:nvPicPr>
          <p:cNvPr id="15" name="Google Shape;93;p1">
            <a:extLst>
              <a:ext uri="{FF2B5EF4-FFF2-40B4-BE49-F238E27FC236}">
                <a16:creationId xmlns:a16="http://schemas.microsoft.com/office/drawing/2014/main" id="{D36D8153-CF2D-53D2-9151-85E812E7DA45}"/>
              </a:ext>
            </a:extLst>
          </p:cNvPr>
          <p:cNvPicPr preferRelativeResize="0"/>
          <p:nvPr/>
        </p:nvPicPr>
        <p:blipFill rotWithShape="1">
          <a:blip r:embed="rId2">
            <a:alphaModFix/>
          </a:blip>
          <a:srcRect/>
          <a:stretch/>
        </p:blipFill>
        <p:spPr>
          <a:xfrm>
            <a:off x="395460" y="204463"/>
            <a:ext cx="11529095" cy="1221834"/>
          </a:xfrm>
          <a:prstGeom prst="rect">
            <a:avLst/>
          </a:prstGeom>
          <a:noFill/>
          <a:ln>
            <a:noFill/>
          </a:ln>
        </p:spPr>
      </p:pic>
    </p:spTree>
    <p:extLst>
      <p:ext uri="{BB962C8B-B14F-4D97-AF65-F5344CB8AC3E}">
        <p14:creationId xmlns:p14="http://schemas.microsoft.com/office/powerpoint/2010/main" val="3662675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A582-87BA-DBDD-6CBB-B6F4B027E9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02448D-720F-BADE-F4F8-69FF5846A5B0}"/>
              </a:ext>
            </a:extLst>
          </p:cNvPr>
          <p:cNvSpPr txBox="1"/>
          <p:nvPr/>
        </p:nvSpPr>
        <p:spPr>
          <a:xfrm>
            <a:off x="1266093" y="731837"/>
            <a:ext cx="9504484" cy="646331"/>
          </a:xfrm>
          <a:prstGeom prst="rect">
            <a:avLst/>
          </a:prstGeom>
          <a:noFill/>
        </p:spPr>
        <p:txBody>
          <a:bodyPr wrap="square">
            <a:spAutoFit/>
          </a:bodyPr>
          <a:lstStyle/>
          <a:p>
            <a:pPr algn="ctr" fontAlgn="base"/>
            <a:r>
              <a:rPr lang="en-US" sz="3600" b="1" dirty="0">
                <a:latin typeface="Times New Roman" panose="02020603050405020304" pitchFamily="18" charset="0"/>
                <a:cs typeface="Times New Roman" panose="02020603050405020304" pitchFamily="18" charset="0"/>
              </a:rPr>
              <a:t>Abstract</a:t>
            </a:r>
          </a:p>
        </p:txBody>
      </p:sp>
      <p:pic>
        <p:nvPicPr>
          <p:cNvPr id="5" name="Picture 4">
            <a:extLst>
              <a:ext uri="{FF2B5EF4-FFF2-40B4-BE49-F238E27FC236}">
                <a16:creationId xmlns:a16="http://schemas.microsoft.com/office/drawing/2014/main" id="{DE829C78-6BE7-0008-FFF6-C86F1EAEFE6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97496" y="60325"/>
            <a:ext cx="1333137" cy="1178540"/>
          </a:xfrm>
          <a:prstGeom prst="rect">
            <a:avLst/>
          </a:prstGeom>
          <a:noFill/>
          <a:ln>
            <a:noFill/>
          </a:ln>
        </p:spPr>
      </p:pic>
      <p:sp>
        <p:nvSpPr>
          <p:cNvPr id="7" name="TextBox 6">
            <a:extLst>
              <a:ext uri="{FF2B5EF4-FFF2-40B4-BE49-F238E27FC236}">
                <a16:creationId xmlns:a16="http://schemas.microsoft.com/office/drawing/2014/main" id="{ADF40F4C-6CEA-27CC-14CE-D228A727A262}"/>
              </a:ext>
            </a:extLst>
          </p:cNvPr>
          <p:cNvSpPr txBox="1"/>
          <p:nvPr/>
        </p:nvSpPr>
        <p:spPr>
          <a:xfrm>
            <a:off x="1363717" y="2161746"/>
            <a:ext cx="9802688" cy="3268652"/>
          </a:xfrm>
          <a:prstGeom prst="rect">
            <a:avLst/>
          </a:prstGeom>
          <a:noFill/>
        </p:spPr>
        <p:txBody>
          <a:bodyPr wrap="square">
            <a:sp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LinkReveal is a web-based tool designed to expand shortened URLs and detect potential online threats. It reveals the final destination of a URL and identifies suspicious redirects. The system analyzes URL structures, domain information, and suspicious patterns to detect potential phishing and malicious links. It also performs basic network security analysis to assess website risks. Based on the analysis, it classifies URLs as Safe, Suspicious, or Malicious and displays the results and security warnings through a simple, user-friendly interface.</a:t>
            </a:r>
            <a:endParaRPr lang="en-US"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D6C25CA-88E2-E961-9ECD-67B8028E37C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Tree>
    <p:extLst>
      <p:ext uri="{BB962C8B-B14F-4D97-AF65-F5344CB8AC3E}">
        <p14:creationId xmlns:p14="http://schemas.microsoft.com/office/powerpoint/2010/main" val="1315909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2ABA-CC99-0D03-2FD1-C509C80E39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12B69E-6A39-4AC3-2BC0-3C0792E04ED7}"/>
              </a:ext>
            </a:extLst>
          </p:cNvPr>
          <p:cNvSpPr txBox="1"/>
          <p:nvPr/>
        </p:nvSpPr>
        <p:spPr>
          <a:xfrm>
            <a:off x="1278365" y="408671"/>
            <a:ext cx="9504484" cy="646331"/>
          </a:xfrm>
          <a:prstGeom prst="rect">
            <a:avLst/>
          </a:prstGeom>
          <a:noFill/>
        </p:spPr>
        <p:txBody>
          <a:bodyPr wrap="square">
            <a:spAutoFit/>
          </a:bodyPr>
          <a:lstStyle/>
          <a:p>
            <a:pPr algn="ctr" fontAlgn="base"/>
            <a:r>
              <a:rPr lang="en-US" sz="3600" b="1" dirty="0">
                <a:latin typeface="Times New Roman" panose="02020603050405020304" pitchFamily="18" charset="0"/>
                <a:cs typeface="Times New Roman" panose="02020603050405020304" pitchFamily="18" charset="0"/>
              </a:rPr>
              <a:t>Introduction</a:t>
            </a:r>
          </a:p>
        </p:txBody>
      </p:sp>
      <p:pic>
        <p:nvPicPr>
          <p:cNvPr id="5" name="Picture 4">
            <a:extLst>
              <a:ext uri="{FF2B5EF4-FFF2-40B4-BE49-F238E27FC236}">
                <a16:creationId xmlns:a16="http://schemas.microsoft.com/office/drawing/2014/main" id="{99FF6328-2A70-51DB-23FA-3577DE75202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97496" y="60325"/>
            <a:ext cx="1333137" cy="1178540"/>
          </a:xfrm>
          <a:prstGeom prst="rect">
            <a:avLst/>
          </a:prstGeom>
          <a:noFill/>
          <a:ln>
            <a:noFill/>
          </a:ln>
        </p:spPr>
      </p:pic>
      <p:pic>
        <p:nvPicPr>
          <p:cNvPr id="10" name="Picture 9">
            <a:extLst>
              <a:ext uri="{FF2B5EF4-FFF2-40B4-BE49-F238E27FC236}">
                <a16:creationId xmlns:a16="http://schemas.microsoft.com/office/drawing/2014/main" id="{AA0DD12A-ADF4-09A4-5937-7E048EA967A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6F60F26B-655A-BAB0-D4E4-0E088C5D0DCF}"/>
              </a:ext>
            </a:extLst>
          </p:cNvPr>
          <p:cNvSpPr txBox="1"/>
          <p:nvPr/>
        </p:nvSpPr>
        <p:spPr>
          <a:xfrm>
            <a:off x="888023" y="1573823"/>
            <a:ext cx="10541977" cy="498598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Shortened URLs often hide their actual destination, making it difficult for users to identify potentially dangerous websites.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Cybercriminals use suspicious links to conduct phishing attacks, distribute malware, and steal sensitive information.</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LinkReveal is a web-based security tool designed to analyze URLs and help users identify potential online threats.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expands shortened URLs, traces redirects, and examines website information through </a:t>
            </a:r>
            <a:r>
              <a:rPr lang="en-US" sz="2000">
                <a:latin typeface="Times New Roman" panose="02020603050405020304" pitchFamily="18" charset="0"/>
                <a:cs typeface="Times New Roman" panose="02020603050405020304" pitchFamily="18" charset="0"/>
              </a:rPr>
              <a:t>DNS resolution.</a:t>
            </a:r>
            <a:endParaRPr lang="en-US" sz="20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uses security checks to assess URL risks and provide useful information before users visit unknown websites.</a:t>
            </a:r>
          </a:p>
          <a:p>
            <a:endParaRPr lang="en-IN" dirty="0"/>
          </a:p>
        </p:txBody>
      </p:sp>
    </p:spTree>
    <p:extLst>
      <p:ext uri="{BB962C8B-B14F-4D97-AF65-F5344CB8AC3E}">
        <p14:creationId xmlns:p14="http://schemas.microsoft.com/office/powerpoint/2010/main" val="126116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97042-39E4-9EA9-A43D-28026EA02D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8DEB8E-B204-A00A-9E69-EE28B7BAE23D}"/>
              </a:ext>
            </a:extLst>
          </p:cNvPr>
          <p:cNvSpPr txBox="1"/>
          <p:nvPr/>
        </p:nvSpPr>
        <p:spPr>
          <a:xfrm>
            <a:off x="3768939" y="731837"/>
            <a:ext cx="4026893" cy="646331"/>
          </a:xfrm>
          <a:prstGeom prst="rect">
            <a:avLst/>
          </a:prstGeom>
          <a:noFill/>
        </p:spPr>
        <p:txBody>
          <a:bodyPr wrap="square">
            <a:spAutoFit/>
          </a:bodyPr>
          <a:lstStyle/>
          <a:p>
            <a:pPr fontAlgn="base"/>
            <a:r>
              <a:rPr lang="en-US" sz="3600" b="1" dirty="0">
                <a:latin typeface="Times New Roman" panose="02020603050405020304" pitchFamily="18" charset="0"/>
                <a:cs typeface="Times New Roman" panose="02020603050405020304" pitchFamily="18" charset="0"/>
              </a:rPr>
              <a:t>Problem Statement</a:t>
            </a:r>
          </a:p>
        </p:txBody>
      </p:sp>
      <p:pic>
        <p:nvPicPr>
          <p:cNvPr id="5" name="Picture 4">
            <a:extLst>
              <a:ext uri="{FF2B5EF4-FFF2-40B4-BE49-F238E27FC236}">
                <a16:creationId xmlns:a16="http://schemas.microsoft.com/office/drawing/2014/main" id="{FB7244A4-1CCF-3761-33FB-547A2AB656E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97496" y="60325"/>
            <a:ext cx="1333137" cy="1178540"/>
          </a:xfrm>
          <a:prstGeom prst="rect">
            <a:avLst/>
          </a:prstGeom>
          <a:noFill/>
          <a:ln>
            <a:noFill/>
          </a:ln>
        </p:spPr>
      </p:pic>
      <p:sp>
        <p:nvSpPr>
          <p:cNvPr id="7" name="TextBox 6">
            <a:extLst>
              <a:ext uri="{FF2B5EF4-FFF2-40B4-BE49-F238E27FC236}">
                <a16:creationId xmlns:a16="http://schemas.microsoft.com/office/drawing/2014/main" id="{B321763F-BF13-E2D3-CBAA-6C4778410FFF}"/>
              </a:ext>
            </a:extLst>
          </p:cNvPr>
          <p:cNvSpPr txBox="1"/>
          <p:nvPr/>
        </p:nvSpPr>
        <p:spPr>
          <a:xfrm>
            <a:off x="1002322" y="1713339"/>
            <a:ext cx="10278209" cy="4613058"/>
          </a:xfrm>
          <a:prstGeom prst="rect">
            <a:avLst/>
          </a:prstGeom>
          <a:noFill/>
        </p:spPr>
        <p:txBody>
          <a:bodyPr wrap="square">
            <a:spAutoFit/>
          </a:bodyPr>
          <a:lstStyle/>
          <a:p>
            <a:pPr marL="285750" lvl="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Shortened URLs and suspicious links often hide their actual destination, making it difficult for users to identify potential threats.</a:t>
            </a:r>
          </a:p>
          <a:p>
            <a:pPr marL="285750" lvl="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Cybercriminals use malicious links to conduct phishing attacks, spread malware, and steal sensitive information.</a:t>
            </a:r>
          </a:p>
          <a:p>
            <a:pPr marL="285750" lvl="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Many users open unknown links without verifying their authenticity or security.</a:t>
            </a:r>
          </a:p>
          <a:p>
            <a:pPr marL="285750" lvl="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There is a need for a simple tool that can expand shortened URLs, analyze redirects, and detect suspicious website characteristics.</a:t>
            </a:r>
          </a:p>
          <a:p>
            <a:pPr marL="285750" lvl="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LinkReveal aims to address this problem by analyzing URLs, identifying potential security threats, and providing clear warnings to help users make safer browsing decisions.</a:t>
            </a:r>
          </a:p>
          <a:p>
            <a:pPr algn="just">
              <a:lnSpc>
                <a:spcPct val="150000"/>
              </a:lnSpc>
            </a:pPr>
            <a:endParaRPr lang="en-US" dirty="0">
              <a:latin typeface="Times New Roman" pitchFamily="18" charset="0"/>
              <a:cs typeface="Times New Roman" pitchFamily="18" charset="0"/>
            </a:endParaRPr>
          </a:p>
        </p:txBody>
      </p:sp>
      <p:pic>
        <p:nvPicPr>
          <p:cNvPr id="10" name="Picture 9">
            <a:extLst>
              <a:ext uri="{FF2B5EF4-FFF2-40B4-BE49-F238E27FC236}">
                <a16:creationId xmlns:a16="http://schemas.microsoft.com/office/drawing/2014/main" id="{4F921013-F4A6-9CF7-D4FC-47CC098A10C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Tree>
    <p:extLst>
      <p:ext uri="{BB962C8B-B14F-4D97-AF65-F5344CB8AC3E}">
        <p14:creationId xmlns:p14="http://schemas.microsoft.com/office/powerpoint/2010/main" val="805473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60A41-6386-8F76-C78E-75AB13AFA1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99A7BD-EF8C-A6BD-1F39-9CD67CC559CA}"/>
              </a:ext>
            </a:extLst>
          </p:cNvPr>
          <p:cNvSpPr txBox="1"/>
          <p:nvPr/>
        </p:nvSpPr>
        <p:spPr>
          <a:xfrm>
            <a:off x="1644162" y="756878"/>
            <a:ext cx="8302775" cy="646331"/>
          </a:xfrm>
          <a:prstGeom prst="rect">
            <a:avLst/>
          </a:prstGeom>
          <a:noFill/>
        </p:spPr>
        <p:txBody>
          <a:bodyPr wrap="square">
            <a:spAutoFit/>
          </a:bodyPr>
          <a:lstStyle/>
          <a:p>
            <a:pPr algn="ctr"/>
            <a:r>
              <a:rPr lang="en-IN" sz="3600" b="1" spc="-10" dirty="0">
                <a:latin typeface="Times New Roman" panose="02020603050405020304" pitchFamily="18" charset="0"/>
                <a:cs typeface="Times New Roman" panose="02020603050405020304" pitchFamily="18" charset="0"/>
              </a:rPr>
              <a:t>Objectives</a:t>
            </a:r>
            <a:endParaRPr lang="en-IN" sz="3600" b="1" dirty="0"/>
          </a:p>
        </p:txBody>
      </p:sp>
      <p:pic>
        <p:nvPicPr>
          <p:cNvPr id="5" name="Picture 4">
            <a:extLst>
              <a:ext uri="{FF2B5EF4-FFF2-40B4-BE49-F238E27FC236}">
                <a16:creationId xmlns:a16="http://schemas.microsoft.com/office/drawing/2014/main" id="{1246BF46-2151-57CD-72D5-3C8951B92E3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9218" name="AutoShape 2" descr=", AI generate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0D6C25CA-88E2-E961-9ECD-67B8028E37C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4" name="TextBox 3">
            <a:extLst>
              <a:ext uri="{FF2B5EF4-FFF2-40B4-BE49-F238E27FC236}">
                <a16:creationId xmlns:a16="http://schemas.microsoft.com/office/drawing/2014/main" id="{8232516C-0733-D4C6-FE45-7A16226F14AE}"/>
              </a:ext>
            </a:extLst>
          </p:cNvPr>
          <p:cNvSpPr txBox="1"/>
          <p:nvPr/>
        </p:nvSpPr>
        <p:spPr>
          <a:xfrm>
            <a:off x="1081455" y="2189285"/>
            <a:ext cx="9429066" cy="3600986"/>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expand shortened URLs and reveal their actual destination links.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detect suspicious URLs, phishing links, and potential malicious websites.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analyze URL structures and redirect behavior to identify possible security threats.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perform basic network security analysis of destination websites.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classify URLs as Safe, Suspicious, or Malicious based on security checks.</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display clear warnings and analysis results through a user-friendly interface.</a:t>
            </a:r>
          </a:p>
          <a:p>
            <a:pPr marL="342900" lvl="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improve user awareness and promote safe browsing practices.</a:t>
            </a:r>
          </a:p>
          <a:p>
            <a:endParaRPr lang="en-IN" dirty="0"/>
          </a:p>
        </p:txBody>
      </p:sp>
    </p:spTree>
    <p:extLst>
      <p:ext uri="{BB962C8B-B14F-4D97-AF65-F5344CB8AC3E}">
        <p14:creationId xmlns:p14="http://schemas.microsoft.com/office/powerpoint/2010/main" val="1525839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1D0ED-E41F-E285-5BA0-79963FB253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43BB2E-3749-8188-A74A-088B843D98B3}"/>
              </a:ext>
            </a:extLst>
          </p:cNvPr>
          <p:cNvSpPr txBox="1"/>
          <p:nvPr/>
        </p:nvSpPr>
        <p:spPr>
          <a:xfrm>
            <a:off x="1679331" y="493109"/>
            <a:ext cx="8302775" cy="646331"/>
          </a:xfrm>
          <a:prstGeom prst="rect">
            <a:avLst/>
          </a:prstGeom>
          <a:noFill/>
        </p:spPr>
        <p:txBody>
          <a:bodyPr wrap="square">
            <a:spAutoFit/>
          </a:bodyPr>
          <a:lstStyle/>
          <a:p>
            <a:pPr algn="ctr"/>
            <a:r>
              <a:rPr lang="en-IN" sz="3600" b="1" spc="-10" dirty="0">
                <a:latin typeface="Times New Roman" panose="02020603050405020304" pitchFamily="18" charset="0"/>
                <a:cs typeface="Times New Roman" panose="02020603050405020304" pitchFamily="18" charset="0"/>
              </a:rPr>
              <a:t>Existing System</a:t>
            </a:r>
            <a:endParaRPr lang="en-IN" sz="3600" b="1" dirty="0"/>
          </a:p>
        </p:txBody>
      </p:sp>
      <p:pic>
        <p:nvPicPr>
          <p:cNvPr id="5" name="Picture 4">
            <a:extLst>
              <a:ext uri="{FF2B5EF4-FFF2-40B4-BE49-F238E27FC236}">
                <a16:creationId xmlns:a16="http://schemas.microsoft.com/office/drawing/2014/main" id="{DD307CB8-2F38-B4D7-1CEE-14377C9675E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9218" name="AutoShape 2" descr=", AI generated">
            <a:extLst>
              <a:ext uri="{FF2B5EF4-FFF2-40B4-BE49-F238E27FC236}">
                <a16:creationId xmlns:a16="http://schemas.microsoft.com/office/drawing/2014/main" id="{24831FE8-9B38-CF7F-BD6F-0F5B389F4B5F}"/>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4109434B-C200-9EF2-B566-E02282F8A6E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4" name="TextBox 3">
            <a:extLst>
              <a:ext uri="{FF2B5EF4-FFF2-40B4-BE49-F238E27FC236}">
                <a16:creationId xmlns:a16="http://schemas.microsoft.com/office/drawing/2014/main" id="{A6E8859A-FC0F-56B8-4759-40DFD0317F71}"/>
              </a:ext>
            </a:extLst>
          </p:cNvPr>
          <p:cNvSpPr txBox="1"/>
          <p:nvPr/>
        </p:nvSpPr>
        <p:spPr>
          <a:xfrm>
            <a:off x="923193" y="1714501"/>
            <a:ext cx="10524392" cy="45243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Existing URL-checking tools may only check whether a URL appears in known threat databases, without providing a complete analysis.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Shortened URLs can hide their actual destination, making it difficult for users to identify suspicious websites.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Some tools provide limited information about redirect chains, server IP addresses, and domain locations.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Users may not receive detailed security reports that combine different URL analysis results.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Users may find it difficult to identify potential phishing links and malicious websites before opening them.</a:t>
            </a:r>
          </a:p>
          <a:p>
            <a:endParaRPr lang="en-IN" dirty="0"/>
          </a:p>
        </p:txBody>
      </p:sp>
    </p:spTree>
    <p:extLst>
      <p:ext uri="{BB962C8B-B14F-4D97-AF65-F5344CB8AC3E}">
        <p14:creationId xmlns:p14="http://schemas.microsoft.com/office/powerpoint/2010/main" val="4061752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0965E-B80B-23BC-8C32-EDE03ADB8A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146638-9037-DCEE-656F-ECEC01EC599E}"/>
              </a:ext>
            </a:extLst>
          </p:cNvPr>
          <p:cNvSpPr txBox="1"/>
          <p:nvPr/>
        </p:nvSpPr>
        <p:spPr>
          <a:xfrm>
            <a:off x="1679331" y="493109"/>
            <a:ext cx="8302775" cy="646331"/>
          </a:xfrm>
          <a:prstGeom prst="rect">
            <a:avLst/>
          </a:prstGeom>
          <a:noFill/>
        </p:spPr>
        <p:txBody>
          <a:bodyPr wrap="square">
            <a:spAutoFit/>
          </a:bodyPr>
          <a:lstStyle/>
          <a:p>
            <a:pPr algn="ctr"/>
            <a:r>
              <a:rPr lang="en-IN" sz="3600" b="1" spc="-10" dirty="0">
                <a:latin typeface="Times New Roman" panose="02020603050405020304" pitchFamily="18" charset="0"/>
                <a:cs typeface="Times New Roman" panose="02020603050405020304" pitchFamily="18" charset="0"/>
              </a:rPr>
              <a:t>Proposed System</a:t>
            </a:r>
            <a:endParaRPr lang="en-IN" sz="3600" b="1" dirty="0"/>
          </a:p>
        </p:txBody>
      </p:sp>
      <p:pic>
        <p:nvPicPr>
          <p:cNvPr id="5" name="Picture 4">
            <a:extLst>
              <a:ext uri="{FF2B5EF4-FFF2-40B4-BE49-F238E27FC236}">
                <a16:creationId xmlns:a16="http://schemas.microsoft.com/office/drawing/2014/main" id="{F7F00B86-4809-6C56-898F-BA6D15D801E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9218" name="AutoShape 2" descr=", AI generated">
            <a:extLst>
              <a:ext uri="{FF2B5EF4-FFF2-40B4-BE49-F238E27FC236}">
                <a16:creationId xmlns:a16="http://schemas.microsoft.com/office/drawing/2014/main" id="{E27BE985-CBAC-4E2F-D1D8-F04E2FED5BDE}"/>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A98FA3F2-551B-0EC4-3C9D-2A08D84276E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4" name="TextBox 3">
            <a:extLst>
              <a:ext uri="{FF2B5EF4-FFF2-40B4-BE49-F238E27FC236}">
                <a16:creationId xmlns:a16="http://schemas.microsoft.com/office/drawing/2014/main" id="{2099E61C-91B9-4FE6-EEBE-93FBDAB89C52}"/>
              </a:ext>
            </a:extLst>
          </p:cNvPr>
          <p:cNvSpPr txBox="1"/>
          <p:nvPr/>
        </p:nvSpPr>
        <p:spPr>
          <a:xfrm>
            <a:off x="923193" y="1714501"/>
            <a:ext cx="10524392" cy="45243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Expands shortened URLs and traces HTTP redirects to identify the final destination website.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Uses Google Safe Browsing API to detect known phishing and malware threats with a three-second timeout.</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Performs DNS resolution to obtain server IP addresses and uses RAM caching to improve lookup performance.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Retrieves approximate IP geolocation information and classifies URLs as Safe, Suspicious, or Malicious based on the analysis.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a user-friendly web interface to display security reports and optionally stores analysis history in MongoDB.</a:t>
            </a:r>
          </a:p>
          <a:p>
            <a:endParaRPr lang="en-IN" dirty="0"/>
          </a:p>
        </p:txBody>
      </p:sp>
    </p:spTree>
    <p:extLst>
      <p:ext uri="{BB962C8B-B14F-4D97-AF65-F5344CB8AC3E}">
        <p14:creationId xmlns:p14="http://schemas.microsoft.com/office/powerpoint/2010/main" val="320408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F4D20-9040-3863-36D2-14DE49549E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C7504A-734D-98EB-066F-B7C525F5C85D}"/>
              </a:ext>
            </a:extLst>
          </p:cNvPr>
          <p:cNvSpPr txBox="1"/>
          <p:nvPr/>
        </p:nvSpPr>
        <p:spPr>
          <a:xfrm>
            <a:off x="1644162" y="545862"/>
            <a:ext cx="8302775" cy="646331"/>
          </a:xfrm>
          <a:prstGeom prst="rect">
            <a:avLst/>
          </a:prstGeom>
          <a:noFill/>
        </p:spPr>
        <p:txBody>
          <a:bodyPr wrap="square">
            <a:spAutoFit/>
          </a:bodyPr>
          <a:lstStyle/>
          <a:p>
            <a:pPr algn="ctr"/>
            <a:r>
              <a:rPr lang="en-IN" sz="3600" b="1" spc="-10" dirty="0">
                <a:latin typeface="Times New Roman" panose="02020603050405020304" pitchFamily="18" charset="0"/>
                <a:cs typeface="Times New Roman" panose="02020603050405020304" pitchFamily="18" charset="0"/>
              </a:rPr>
              <a:t>Literature Review</a:t>
            </a:r>
            <a:endParaRPr lang="en-IN" sz="3600" b="1" dirty="0"/>
          </a:p>
        </p:txBody>
      </p:sp>
      <p:pic>
        <p:nvPicPr>
          <p:cNvPr id="5" name="Picture 4">
            <a:extLst>
              <a:ext uri="{FF2B5EF4-FFF2-40B4-BE49-F238E27FC236}">
                <a16:creationId xmlns:a16="http://schemas.microsoft.com/office/drawing/2014/main" id="{4DE3A1E6-1D1F-C580-FC64-968F348F94A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9218" name="AutoShape 2" descr=", AI generated">
            <a:extLst>
              <a:ext uri="{FF2B5EF4-FFF2-40B4-BE49-F238E27FC236}">
                <a16:creationId xmlns:a16="http://schemas.microsoft.com/office/drawing/2014/main" id="{4D4F5C53-CE94-D00A-CA3D-CCC32038762C}"/>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017713F6-B975-E8EA-3D22-0B1DCFBE6B6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graphicFrame>
        <p:nvGraphicFramePr>
          <p:cNvPr id="2" name="Table 1">
            <a:extLst>
              <a:ext uri="{FF2B5EF4-FFF2-40B4-BE49-F238E27FC236}">
                <a16:creationId xmlns:a16="http://schemas.microsoft.com/office/drawing/2014/main" id="{58D52C38-8598-0772-75A5-BDAA445AB429}"/>
              </a:ext>
            </a:extLst>
          </p:cNvPr>
          <p:cNvGraphicFramePr>
            <a:graphicFrameLocks noGrp="1"/>
          </p:cNvGraphicFramePr>
          <p:nvPr>
            <p:extLst>
              <p:ext uri="{D42A27DB-BD31-4B8C-83A1-F6EECF244321}">
                <p14:modId xmlns:p14="http://schemas.microsoft.com/office/powerpoint/2010/main" val="2865637934"/>
              </p:ext>
            </p:extLst>
          </p:nvPr>
        </p:nvGraphicFramePr>
        <p:xfrm>
          <a:off x="307975" y="1491132"/>
          <a:ext cx="11614299" cy="5051110"/>
        </p:xfrm>
        <a:graphic>
          <a:graphicData uri="http://schemas.openxmlformats.org/drawingml/2006/table">
            <a:tbl>
              <a:tblPr firstRow="1" bandRow="1">
                <a:tableStyleId>{5C22544A-7EE6-4342-B048-85BDC9FD1C3A}</a:tableStyleId>
              </a:tblPr>
              <a:tblGrid>
                <a:gridCol w="597876">
                  <a:extLst>
                    <a:ext uri="{9D8B030D-6E8A-4147-A177-3AD203B41FA5}">
                      <a16:colId xmlns:a16="http://schemas.microsoft.com/office/drawing/2014/main" val="1856952540"/>
                    </a:ext>
                  </a:extLst>
                </a:gridCol>
                <a:gridCol w="2111458">
                  <a:extLst>
                    <a:ext uri="{9D8B030D-6E8A-4147-A177-3AD203B41FA5}">
                      <a16:colId xmlns:a16="http://schemas.microsoft.com/office/drawing/2014/main" val="508762113"/>
                    </a:ext>
                  </a:extLst>
                </a:gridCol>
                <a:gridCol w="1354667">
                  <a:extLst>
                    <a:ext uri="{9D8B030D-6E8A-4147-A177-3AD203B41FA5}">
                      <a16:colId xmlns:a16="http://schemas.microsoft.com/office/drawing/2014/main" val="2569717485"/>
                    </a:ext>
                  </a:extLst>
                </a:gridCol>
                <a:gridCol w="2217649">
                  <a:extLst>
                    <a:ext uri="{9D8B030D-6E8A-4147-A177-3AD203B41FA5}">
                      <a16:colId xmlns:a16="http://schemas.microsoft.com/office/drawing/2014/main" val="2574401199"/>
                    </a:ext>
                  </a:extLst>
                </a:gridCol>
                <a:gridCol w="1679330">
                  <a:extLst>
                    <a:ext uri="{9D8B030D-6E8A-4147-A177-3AD203B41FA5}">
                      <a16:colId xmlns:a16="http://schemas.microsoft.com/office/drawing/2014/main" val="2818433816"/>
                    </a:ext>
                  </a:extLst>
                </a:gridCol>
                <a:gridCol w="3653319">
                  <a:extLst>
                    <a:ext uri="{9D8B030D-6E8A-4147-A177-3AD203B41FA5}">
                      <a16:colId xmlns:a16="http://schemas.microsoft.com/office/drawing/2014/main" val="1543158297"/>
                    </a:ext>
                  </a:extLst>
                </a:gridCol>
              </a:tblGrid>
              <a:tr h="370840">
                <a:tc>
                  <a:txBody>
                    <a:bodyPr/>
                    <a:lstStyle/>
                    <a:p>
                      <a:pPr rtl="0">
                        <a:lnSpc>
                          <a:spcPct val="150000"/>
                        </a:lnSpc>
                        <a:buNone/>
                      </a:pPr>
                      <a:r>
                        <a:rPr lang="en-IN" sz="1400" b="1" dirty="0">
                          <a:solidFill>
                            <a:srgbClr val="1F1F1F"/>
                          </a:solidFill>
                          <a:effectLst/>
                          <a:latin typeface="Times New Roman" panose="02020603050405020304" pitchFamily="18" charset="0"/>
                          <a:cs typeface="Times New Roman" panose="02020603050405020304" pitchFamily="18" charset="0"/>
                        </a:rPr>
                        <a:t>SNO</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b="1">
                          <a:solidFill>
                            <a:srgbClr val="1F1F1F"/>
                          </a:solidFill>
                          <a:effectLst/>
                          <a:latin typeface="Times New Roman" panose="02020603050405020304" pitchFamily="18" charset="0"/>
                          <a:cs typeface="Times New Roman" panose="02020603050405020304" pitchFamily="18" charset="0"/>
                        </a:rPr>
                        <a:t>Author Names</a:t>
                      </a:r>
                      <a:endParaRPr lang="en-IN" sz="140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b="1" dirty="0">
                          <a:solidFill>
                            <a:srgbClr val="1F1F1F"/>
                          </a:solidFill>
                          <a:effectLst/>
                          <a:latin typeface="Times New Roman" panose="02020603050405020304" pitchFamily="18" charset="0"/>
                          <a:cs typeface="Times New Roman" panose="02020603050405020304" pitchFamily="18" charset="0"/>
                        </a:rPr>
                        <a:t>Year of Publication</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b="1">
                          <a:solidFill>
                            <a:srgbClr val="1F1F1F"/>
                          </a:solidFill>
                          <a:effectLst/>
                          <a:latin typeface="Times New Roman" panose="02020603050405020304" pitchFamily="18" charset="0"/>
                          <a:cs typeface="Times New Roman" panose="02020603050405020304" pitchFamily="18" charset="0"/>
                        </a:rPr>
                        <a:t>Research Problem</a:t>
                      </a:r>
                      <a:endParaRPr lang="en-IN" sz="140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b="1" dirty="0">
                          <a:solidFill>
                            <a:srgbClr val="1F1F1F"/>
                          </a:solidFill>
                          <a:effectLst/>
                          <a:latin typeface="Times New Roman" panose="02020603050405020304" pitchFamily="18" charset="0"/>
                          <a:cs typeface="Times New Roman" panose="02020603050405020304" pitchFamily="18" charset="0"/>
                        </a:rPr>
                        <a:t>Tools/ Technique Used</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b="1">
                          <a:solidFill>
                            <a:srgbClr val="1F1F1F"/>
                          </a:solidFill>
                          <a:effectLst/>
                          <a:latin typeface="Times New Roman" panose="02020603050405020304" pitchFamily="18" charset="0"/>
                          <a:cs typeface="Times New Roman" panose="02020603050405020304" pitchFamily="18" charset="0"/>
                        </a:rPr>
                        <a:t>Research Gap</a:t>
                      </a:r>
                      <a:endParaRPr lang="en-IN" sz="1400">
                        <a:solidFill>
                          <a:srgbClr val="1F1F1F"/>
                        </a:solidFill>
                        <a:effectLst/>
                        <a:latin typeface="Times New Roman" panose="02020603050405020304" pitchFamily="18" charset="0"/>
                        <a:cs typeface="Times New Roman" panose="02020603050405020304" pitchFamily="18" charset="0"/>
                      </a:endParaRPr>
                    </a:p>
                  </a:txBody>
                  <a:tcPr marT="76200" marB="76200" anchor="ctr"/>
                </a:tc>
                <a:extLst>
                  <a:ext uri="{0D108BD9-81ED-4DB2-BD59-A6C34878D82A}">
                    <a16:rowId xmlns:a16="http://schemas.microsoft.com/office/drawing/2014/main" val="2157210581"/>
                  </a:ext>
                </a:extLst>
              </a:tr>
              <a:tr h="370840">
                <a:tc>
                  <a:txBody>
                    <a:bodyPr/>
                    <a:lstStyle/>
                    <a:p>
                      <a:pPr rtl="0">
                        <a:lnSpc>
                          <a:spcPct val="150000"/>
                        </a:lnSpc>
                        <a:buNone/>
                      </a:pPr>
                      <a:r>
                        <a:rPr lang="en-IN" sz="1400" b="1" dirty="0">
                          <a:solidFill>
                            <a:srgbClr val="1F1F1F"/>
                          </a:solidFill>
                          <a:effectLst/>
                          <a:latin typeface="Times New Roman" panose="02020603050405020304" pitchFamily="18" charset="0"/>
                          <a:cs typeface="Times New Roman" panose="02020603050405020304" pitchFamily="18" charset="0"/>
                        </a:rPr>
                        <a:t>1</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Kumar, A., et al.</a:t>
                      </a: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2024</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Mobile Phishing &amp; Threat Intelligence Logging</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Centralized Cloud Databases, REST APIs</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Compromises user privacy by storing scanned URLs centrally; lacks decentralized, on-device logging (</a:t>
                      </a:r>
                      <a:r>
                        <a:rPr lang="en-US" sz="1400" dirty="0">
                          <a:solidFill>
                            <a:srgbClr val="444746"/>
                          </a:solidFill>
                          <a:effectLst/>
                          <a:latin typeface="Times New Roman" panose="02020603050405020304" pitchFamily="18" charset="0"/>
                          <a:cs typeface="Times New Roman" panose="02020603050405020304" pitchFamily="18" charset="0"/>
                        </a:rPr>
                        <a:t>AsyncStorage</a:t>
                      </a:r>
                      <a:r>
                        <a:rPr lang="en-US" sz="1400" dirty="0">
                          <a:solidFill>
                            <a:srgbClr val="1F1F1F"/>
                          </a:solidFill>
                          <a:effectLst/>
                          <a:latin typeface="Times New Roman" panose="02020603050405020304" pitchFamily="18" charset="0"/>
                          <a:cs typeface="Times New Roman" panose="02020603050405020304" pitchFamily="18" charset="0"/>
                        </a:rPr>
                        <a:t>).</a:t>
                      </a:r>
                    </a:p>
                  </a:txBody>
                  <a:tcPr marT="76200" marB="76200" anchor="ctr"/>
                </a:tc>
                <a:extLst>
                  <a:ext uri="{0D108BD9-81ED-4DB2-BD59-A6C34878D82A}">
                    <a16:rowId xmlns:a16="http://schemas.microsoft.com/office/drawing/2014/main" val="3591140177"/>
                  </a:ext>
                </a:extLst>
              </a:tr>
              <a:tr h="370840">
                <a:tc>
                  <a:txBody>
                    <a:bodyPr/>
                    <a:lstStyle/>
                    <a:p>
                      <a:pPr rtl="0">
                        <a:lnSpc>
                          <a:spcPct val="150000"/>
                        </a:lnSpc>
                        <a:buNone/>
                      </a:pPr>
                      <a:r>
                        <a:rPr lang="en-IN" sz="1400" b="1" dirty="0">
                          <a:solidFill>
                            <a:srgbClr val="1F1F1F"/>
                          </a:solidFill>
                          <a:effectLst/>
                          <a:latin typeface="Times New Roman" panose="02020603050405020304" pitchFamily="18" charset="0"/>
                          <a:cs typeface="Times New Roman" panose="02020603050405020304" pitchFamily="18" charset="0"/>
                        </a:rPr>
                        <a:t>2</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Doe, J., &amp; Patel, N.</a:t>
                      </a: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2023</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High Latency in Mobile URL Scanners</a:t>
                      </a: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Cloud-based URL Scanners</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High query latency on mobile networks; fails to implement backend in-memory RAM caching for repeated queries.</a:t>
                      </a:r>
                    </a:p>
                  </a:txBody>
                  <a:tcPr marT="76200" marB="76200" anchor="ctr"/>
                </a:tc>
                <a:extLst>
                  <a:ext uri="{0D108BD9-81ED-4DB2-BD59-A6C34878D82A}">
                    <a16:rowId xmlns:a16="http://schemas.microsoft.com/office/drawing/2014/main" val="4043623960"/>
                  </a:ext>
                </a:extLst>
              </a:tr>
              <a:tr h="370840">
                <a:tc>
                  <a:txBody>
                    <a:bodyPr/>
                    <a:lstStyle/>
                    <a:p>
                      <a:pPr rtl="0">
                        <a:lnSpc>
                          <a:spcPct val="150000"/>
                        </a:lnSpc>
                        <a:buNone/>
                      </a:pPr>
                      <a:r>
                        <a:rPr lang="en-IN" sz="1800" b="1" dirty="0">
                          <a:solidFill>
                            <a:srgbClr val="1F1F1F"/>
                          </a:solidFill>
                          <a:effectLst/>
                          <a:latin typeface="Times New Roman" panose="02020603050405020304" pitchFamily="18" charset="0"/>
                          <a:cs typeface="Times New Roman" panose="02020603050405020304" pitchFamily="18" charset="0"/>
                        </a:rPr>
                        <a:t>3</a:t>
                      </a:r>
                      <a:endParaRPr lang="en-IN" sz="1800" dirty="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Smith, T., &amp; Lee, K.</a:t>
                      </a: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2022</a:t>
                      </a: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Unmasking Malicious URL Shorteners</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Standard HTTP Requests, Client-side scripts</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Vulnerable to dead-server timeouts causing client-side app crashes; lacks strict backend fail-fast mechanisms.</a:t>
                      </a:r>
                    </a:p>
                  </a:txBody>
                  <a:tcPr marT="76200" marB="76200" anchor="ctr"/>
                </a:tc>
                <a:extLst>
                  <a:ext uri="{0D108BD9-81ED-4DB2-BD59-A6C34878D82A}">
                    <a16:rowId xmlns:a16="http://schemas.microsoft.com/office/drawing/2014/main" val="205612031"/>
                  </a:ext>
                </a:extLst>
              </a:tr>
              <a:tr h="370840">
                <a:tc>
                  <a:txBody>
                    <a:bodyPr/>
                    <a:lstStyle/>
                    <a:p>
                      <a:pPr rtl="0">
                        <a:lnSpc>
                          <a:spcPct val="150000"/>
                        </a:lnSpc>
                        <a:buNone/>
                      </a:pPr>
                      <a:r>
                        <a:rPr lang="en-IN" sz="1800" b="1">
                          <a:solidFill>
                            <a:srgbClr val="1F1F1F"/>
                          </a:solidFill>
                          <a:effectLst/>
                          <a:latin typeface="Times New Roman" panose="02020603050405020304" pitchFamily="18" charset="0"/>
                          <a:cs typeface="Times New Roman" panose="02020603050405020304" pitchFamily="18" charset="0"/>
                        </a:rPr>
                        <a:t>4</a:t>
                      </a:r>
                      <a:endParaRPr lang="en-IN" sz="1800">
                        <a:solidFill>
                          <a:srgbClr val="1F1F1F"/>
                        </a:solidFill>
                        <a:effectLst/>
                        <a:latin typeface="Times New Roman" panose="02020603050405020304" pitchFamily="18" charset="0"/>
                        <a:cs typeface="Times New Roman" panose="02020603050405020304" pitchFamily="18" charset="0"/>
                      </a:endParaRP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Wang, Y., et al.</a:t>
                      </a:r>
                    </a:p>
                  </a:txBody>
                  <a:tcPr marR="57150" marT="76200" marB="76200" anchor="ctr"/>
                </a:tc>
                <a:tc>
                  <a:txBody>
                    <a:bodyPr/>
                    <a:lstStyle/>
                    <a:p>
                      <a:pPr rtl="0">
                        <a:lnSpc>
                          <a:spcPct val="150000"/>
                        </a:lnSpc>
                        <a:buNone/>
                      </a:pPr>
                      <a:r>
                        <a:rPr lang="en-IN" sz="1400" dirty="0">
                          <a:solidFill>
                            <a:srgbClr val="1F1F1F"/>
                          </a:solidFill>
                          <a:effectLst/>
                          <a:latin typeface="Times New Roman" panose="02020603050405020304" pitchFamily="18" charset="0"/>
                          <a:cs typeface="Times New Roman" panose="02020603050405020304" pitchFamily="18" charset="0"/>
                        </a:rPr>
                        <a:t>2021</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Bypassing IP-based Firewalls in Scanners</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Third-party DNS APIs, Proxy servers</a:t>
                      </a:r>
                    </a:p>
                  </a:txBody>
                  <a:tcPr marR="57150" marT="76200" marB="76200" anchor="ctr"/>
                </a:tc>
                <a:tc>
                  <a:txBody>
                    <a:bodyPr/>
                    <a:lstStyle/>
                    <a:p>
                      <a:pPr rtl="0">
                        <a:lnSpc>
                          <a:spcPct val="150000"/>
                        </a:lnSpc>
                        <a:buNone/>
                      </a:pPr>
                      <a:r>
                        <a:rPr lang="en-US" sz="1400" dirty="0">
                          <a:solidFill>
                            <a:srgbClr val="1F1F1F"/>
                          </a:solidFill>
                          <a:effectLst/>
                          <a:latin typeface="Times New Roman" panose="02020603050405020304" pitchFamily="18" charset="0"/>
                          <a:cs typeface="Times New Roman" panose="02020603050405020304" pitchFamily="18" charset="0"/>
                        </a:rPr>
                        <a:t>Third-party APIs frequently block automated data center traffic; lacks native DNS resolution for raw IP extraction.</a:t>
                      </a:r>
                    </a:p>
                  </a:txBody>
                  <a:tcPr marT="76200" marB="76200" anchor="ctr"/>
                </a:tc>
                <a:extLst>
                  <a:ext uri="{0D108BD9-81ED-4DB2-BD59-A6C34878D82A}">
                    <a16:rowId xmlns:a16="http://schemas.microsoft.com/office/drawing/2014/main" val="1726562131"/>
                  </a:ext>
                </a:extLst>
              </a:tr>
            </a:tbl>
          </a:graphicData>
        </a:graphic>
      </p:graphicFrame>
    </p:spTree>
    <p:extLst>
      <p:ext uri="{BB962C8B-B14F-4D97-AF65-F5344CB8AC3E}">
        <p14:creationId xmlns:p14="http://schemas.microsoft.com/office/powerpoint/2010/main" val="2527475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5BFC-7371-2E27-33EF-CCC033895B9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73BF9AD-E768-E73C-71B0-A3B267728AB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4"/>
            <a:ext cx="1520114" cy="1302483"/>
          </a:xfrm>
          <a:prstGeom prst="rect">
            <a:avLst/>
          </a:prstGeom>
          <a:noFill/>
          <a:ln>
            <a:noFill/>
          </a:ln>
        </p:spPr>
      </p:pic>
      <p:sp>
        <p:nvSpPr>
          <p:cNvPr id="8" name="TextBox 7">
            <a:extLst>
              <a:ext uri="{FF2B5EF4-FFF2-40B4-BE49-F238E27FC236}">
                <a16:creationId xmlns:a16="http://schemas.microsoft.com/office/drawing/2014/main" id="{84E77D01-A151-E7F8-94B4-029E6C2C3550}"/>
              </a:ext>
            </a:extLst>
          </p:cNvPr>
          <p:cNvSpPr txBox="1"/>
          <p:nvPr/>
        </p:nvSpPr>
        <p:spPr>
          <a:xfrm>
            <a:off x="1716810" y="511857"/>
            <a:ext cx="8440616"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System Architecture</a:t>
            </a:r>
            <a:endParaRPr lang="en-IN" sz="3000" b="1" dirty="0">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0D151753-808F-1F06-9C71-ED4EF72F5B0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4"/>
            <a:ext cx="1135117" cy="1372751"/>
          </a:xfrm>
          <a:prstGeom prst="rect">
            <a:avLst/>
          </a:prstGeom>
          <a:noFill/>
        </p:spPr>
      </p:pic>
      <p:pic>
        <p:nvPicPr>
          <p:cNvPr id="6" name="Picture 5">
            <a:extLst>
              <a:ext uri="{FF2B5EF4-FFF2-40B4-BE49-F238E27FC236}">
                <a16:creationId xmlns:a16="http://schemas.microsoft.com/office/drawing/2014/main" id="{AFE62300-C2AD-9369-B2D9-75DC600A93B1}"/>
              </a:ext>
            </a:extLst>
          </p:cNvPr>
          <p:cNvPicPr>
            <a:picLocks noChangeAspect="1"/>
          </p:cNvPicPr>
          <p:nvPr/>
        </p:nvPicPr>
        <p:blipFill>
          <a:blip r:embed="rId4"/>
          <a:stretch>
            <a:fillRect/>
          </a:stretch>
        </p:blipFill>
        <p:spPr>
          <a:xfrm>
            <a:off x="1053611" y="1521069"/>
            <a:ext cx="10084778" cy="5124013"/>
          </a:xfrm>
          <a:prstGeom prst="rect">
            <a:avLst/>
          </a:prstGeom>
        </p:spPr>
      </p:pic>
    </p:spTree>
    <p:extLst>
      <p:ext uri="{BB962C8B-B14F-4D97-AF65-F5344CB8AC3E}">
        <p14:creationId xmlns:p14="http://schemas.microsoft.com/office/powerpoint/2010/main" val="3543791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073E3-51DA-4F51-FF2A-08FFFE67B59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D3AB5B7-979F-9A72-8AC1-C8F9CFDB968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43163408-A444-B14D-1642-211E1453E136}"/>
              </a:ext>
            </a:extLst>
          </p:cNvPr>
          <p:cNvSpPr txBox="1"/>
          <p:nvPr/>
        </p:nvSpPr>
        <p:spPr>
          <a:xfrm>
            <a:off x="1575581" y="503167"/>
            <a:ext cx="8482819"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List of Modules</a:t>
            </a:r>
          </a:p>
        </p:txBody>
      </p:sp>
      <p:pic>
        <p:nvPicPr>
          <p:cNvPr id="9" name="Picture 8">
            <a:extLst>
              <a:ext uri="{FF2B5EF4-FFF2-40B4-BE49-F238E27FC236}">
                <a16:creationId xmlns:a16="http://schemas.microsoft.com/office/drawing/2014/main" id="{401B9058-2E09-4829-5C4E-BA0E3EA840B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8018028F-C7AF-0EC7-516A-D0B4DD9A04B7}"/>
              </a:ext>
            </a:extLst>
          </p:cNvPr>
          <p:cNvSpPr txBox="1"/>
          <p:nvPr/>
        </p:nvSpPr>
        <p:spPr>
          <a:xfrm>
            <a:off x="3068516" y="2478981"/>
            <a:ext cx="6831623" cy="18896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Module 1: </a:t>
            </a:r>
            <a:r>
              <a:rPr lang="en-IN" sz="2000" dirty="0">
                <a:latin typeface="Times New Roman" panose="02020603050405020304" pitchFamily="18" charset="0"/>
                <a:cs typeface="Times New Roman" panose="02020603050405020304" pitchFamily="18" charset="0"/>
              </a:rPr>
              <a:t>URL Expansion and Redirect Analysis</a:t>
            </a:r>
          </a:p>
          <a:p>
            <a:pPr marL="342900" indent="-342900"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Module 2: </a:t>
            </a:r>
            <a:r>
              <a:rPr lang="en-IN" sz="2000" dirty="0">
                <a:latin typeface="Times New Roman" panose="02020603050405020304" pitchFamily="18" charset="0"/>
                <a:cs typeface="Times New Roman" panose="02020603050405020304" pitchFamily="18" charset="0"/>
              </a:rPr>
              <a:t>Threat Detection</a:t>
            </a:r>
          </a:p>
          <a:p>
            <a:pPr marL="342900" indent="-342900"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Module 3: </a:t>
            </a:r>
            <a:r>
              <a:rPr lang="en-IN" sz="2000" dirty="0">
                <a:latin typeface="Times New Roman" panose="02020603050405020304" pitchFamily="18" charset="0"/>
                <a:cs typeface="Times New Roman" panose="02020603050405020304" pitchFamily="18" charset="0"/>
              </a:rPr>
              <a:t>DNS Resolution and IP Geolocation</a:t>
            </a:r>
          </a:p>
          <a:p>
            <a:pPr marL="342900" indent="-342900"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Module 4: </a:t>
            </a:r>
            <a:r>
              <a:rPr lang="en-IN" sz="2000" dirty="0">
                <a:latin typeface="Times New Roman" panose="02020603050405020304" pitchFamily="18" charset="0"/>
                <a:cs typeface="Times New Roman" panose="02020603050405020304" pitchFamily="18" charset="0"/>
              </a:rPr>
              <a:t>Risk Classification and Report Generation</a:t>
            </a:r>
            <a:endParaRPr lang="en-IN" dirty="0"/>
          </a:p>
        </p:txBody>
      </p:sp>
    </p:spTree>
    <p:extLst>
      <p:ext uri="{BB962C8B-B14F-4D97-AF65-F5344CB8AC3E}">
        <p14:creationId xmlns:p14="http://schemas.microsoft.com/office/powerpoint/2010/main" val="323113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741CC-FD7B-D05C-B43D-0BE45081E91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4469387-3421-53C5-A813-ED28F905676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2560116B-109C-5AE0-828A-A1A8936BBEBF}"/>
              </a:ext>
            </a:extLst>
          </p:cNvPr>
          <p:cNvSpPr txBox="1"/>
          <p:nvPr/>
        </p:nvSpPr>
        <p:spPr>
          <a:xfrm>
            <a:off x="1324316" y="610374"/>
            <a:ext cx="9186204"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Module 1 :</a:t>
            </a:r>
            <a:r>
              <a:rPr lang="en-IN" sz="3200" b="1" dirty="0">
                <a:latin typeface="Times New Roman" panose="02020603050405020304" pitchFamily="18" charset="0"/>
                <a:cs typeface="Times New Roman" panose="02020603050405020304" pitchFamily="18" charset="0"/>
              </a:rPr>
              <a:t> URL Expansion and Redirect Analysis</a:t>
            </a:r>
            <a:r>
              <a:rPr lang="en-US" sz="3200" b="1" dirty="0">
                <a:latin typeface="Times New Roman" pitchFamily="18" charset="0"/>
                <a:cs typeface="Times New Roman" pitchFamily="18" charset="0"/>
              </a:rPr>
              <a:t> </a:t>
            </a:r>
          </a:p>
        </p:txBody>
      </p:sp>
      <p:pic>
        <p:nvPicPr>
          <p:cNvPr id="9" name="Picture 8">
            <a:extLst>
              <a:ext uri="{FF2B5EF4-FFF2-40B4-BE49-F238E27FC236}">
                <a16:creationId xmlns:a16="http://schemas.microsoft.com/office/drawing/2014/main" id="{0EEAC028-AE93-DDF8-F44A-645EF613447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9208F049-6DAB-5EAC-9E49-A556DF0B7250}"/>
              </a:ext>
            </a:extLst>
          </p:cNvPr>
          <p:cNvSpPr txBox="1"/>
          <p:nvPr/>
        </p:nvSpPr>
        <p:spPr>
          <a:xfrm>
            <a:off x="992370" y="1600200"/>
            <a:ext cx="10278207" cy="45243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Expands shortened URLs to reveal the actual destination link and help users understand where the link leads.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Traces HTTP redirects from the original URL to the final destination website.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Identifies intermediate URLs involved in the redirection process before reaching the final destination.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Detects unexpected redirections that may indicate suspicious website behavior.</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Displays the final destination URL for further security checks and threat analysis.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Helps users understand the complete redirection path before visiting an unknown website.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the expanded URL as input for the next module to check for potential security threats.</a:t>
            </a:r>
          </a:p>
          <a:p>
            <a:endParaRPr lang="en-IN" dirty="0"/>
          </a:p>
        </p:txBody>
      </p:sp>
    </p:spTree>
    <p:extLst>
      <p:ext uri="{BB962C8B-B14F-4D97-AF65-F5344CB8AC3E}">
        <p14:creationId xmlns:p14="http://schemas.microsoft.com/office/powerpoint/2010/main" val="91140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A11C6-894B-5C26-40CD-C7A6739247B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CC12658-69C6-74F4-9B9C-0B7C8D39CBB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A7BFCC21-9C47-2507-8F40-05441D3C8542}"/>
              </a:ext>
            </a:extLst>
          </p:cNvPr>
          <p:cNvSpPr txBox="1"/>
          <p:nvPr/>
        </p:nvSpPr>
        <p:spPr>
          <a:xfrm>
            <a:off x="1324316" y="610374"/>
            <a:ext cx="9186204"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Module 2 :</a:t>
            </a:r>
            <a:r>
              <a:rPr lang="en-IN" sz="3200" b="1" dirty="0">
                <a:latin typeface="Times New Roman" panose="02020603050405020304" pitchFamily="18" charset="0"/>
                <a:cs typeface="Times New Roman" panose="02020603050405020304" pitchFamily="18" charset="0"/>
              </a:rPr>
              <a:t> Threat Detection</a:t>
            </a:r>
            <a:endParaRPr lang="en-US" sz="3200" b="1" dirty="0">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667FAE72-14E9-A478-5BD0-5447A260284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2CD84C0A-3B07-1F8A-7C6E-D2C273895B0B}"/>
              </a:ext>
            </a:extLst>
          </p:cNvPr>
          <p:cNvSpPr txBox="1"/>
          <p:nvPr/>
        </p:nvSpPr>
        <p:spPr>
          <a:xfrm>
            <a:off x="992370" y="1600200"/>
            <a:ext cx="10278207" cy="498598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Uses the Google Safe Browsing API to check URLs against known phishing and malware threats.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Identifies URLs associated with phishing attacks, malware distribution, and other known online security threats.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Sends the expanded destination URL for security verification before users visit the website.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Uses a 3-second timeout to prevent the threat-checking process from waiting too long for a response.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Analyzes the API response to determine whether the URL matches any known security threats.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threat detection results to support the risk classification process.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Helps users identify potentially dangerous links and make safer browsing decisions.</a:t>
            </a:r>
          </a:p>
          <a:p>
            <a:endParaRPr lang="en-IN" dirty="0"/>
          </a:p>
        </p:txBody>
      </p:sp>
    </p:spTree>
    <p:extLst>
      <p:ext uri="{BB962C8B-B14F-4D97-AF65-F5344CB8AC3E}">
        <p14:creationId xmlns:p14="http://schemas.microsoft.com/office/powerpoint/2010/main" val="1375420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273DE-C050-E0C8-9C6A-93A0B23B6D6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12B48B3-98DD-CEAE-DE23-CF8CE8B4ACF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57CEC6AD-CD6C-4E2D-45E8-6AC7EB6BCC1C}"/>
              </a:ext>
            </a:extLst>
          </p:cNvPr>
          <p:cNvSpPr txBox="1"/>
          <p:nvPr/>
        </p:nvSpPr>
        <p:spPr>
          <a:xfrm>
            <a:off x="1324316" y="627959"/>
            <a:ext cx="9186204"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Module 3 :</a:t>
            </a:r>
            <a:r>
              <a:rPr lang="en-IN" sz="32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DNS Resolution and IP Geolocation</a:t>
            </a:r>
          </a:p>
        </p:txBody>
      </p:sp>
      <p:pic>
        <p:nvPicPr>
          <p:cNvPr id="9" name="Picture 8">
            <a:extLst>
              <a:ext uri="{FF2B5EF4-FFF2-40B4-BE49-F238E27FC236}">
                <a16:creationId xmlns:a16="http://schemas.microsoft.com/office/drawing/2014/main" id="{2099D800-B3B4-D48C-1E73-D06DD69AE12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33287B8F-104D-B66D-888B-41A300E2C509}"/>
              </a:ext>
            </a:extLst>
          </p:cNvPr>
          <p:cNvSpPr txBox="1"/>
          <p:nvPr/>
        </p:nvSpPr>
        <p:spPr>
          <a:xfrm>
            <a:off x="992370" y="1970773"/>
            <a:ext cx="10278207" cy="360098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Resolves domain names into IP addresses to identify the server hosting the destination website.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Extracts the server IP address to support further network security analysis.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Uses RAM caching to store previous lookup results and improve response speed.</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Retrieves approximate geographical information about the server using its IP address.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Helps users understand the server location associated with the destination website.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Reduces repeated DNS lookup operations through caching for faster analysis.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IP address and geolocation details for the next module to classify the URL's risk level.</a:t>
            </a:r>
          </a:p>
          <a:p>
            <a:endParaRPr lang="en-IN" dirty="0"/>
          </a:p>
        </p:txBody>
      </p:sp>
    </p:spTree>
    <p:extLst>
      <p:ext uri="{BB962C8B-B14F-4D97-AF65-F5344CB8AC3E}">
        <p14:creationId xmlns:p14="http://schemas.microsoft.com/office/powerpoint/2010/main" val="1391852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66D43-3C6B-2B7D-EC90-86A5C280820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C37794A-A2AC-8409-F6EC-A7CC09773EE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02BDE2FE-8C26-C2BF-9CB0-CA177286079A}"/>
              </a:ext>
            </a:extLst>
          </p:cNvPr>
          <p:cNvSpPr txBox="1"/>
          <p:nvPr/>
        </p:nvSpPr>
        <p:spPr>
          <a:xfrm>
            <a:off x="1324316" y="627959"/>
            <a:ext cx="9186204" cy="1077218"/>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Module 4 :</a:t>
            </a:r>
            <a:r>
              <a:rPr lang="en-IN" sz="32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Risk Classification and Report Generation</a:t>
            </a:r>
          </a:p>
        </p:txBody>
      </p:sp>
      <p:pic>
        <p:nvPicPr>
          <p:cNvPr id="9" name="Picture 8">
            <a:extLst>
              <a:ext uri="{FF2B5EF4-FFF2-40B4-BE49-F238E27FC236}">
                <a16:creationId xmlns:a16="http://schemas.microsoft.com/office/drawing/2014/main" id="{81C72D7F-43BF-6516-1805-77C8A6ED5AE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C1C6BEC7-C8AA-B328-910A-F86C5767A63B}"/>
              </a:ext>
            </a:extLst>
          </p:cNvPr>
          <p:cNvSpPr txBox="1"/>
          <p:nvPr/>
        </p:nvSpPr>
        <p:spPr>
          <a:xfrm>
            <a:off x="992370" y="1970773"/>
            <a:ext cx="10278207" cy="45243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Classifies analyzed URLs into three categories: Safe, Suspicious, or Malicious based on security analysis results.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Combines URL expansion, threat detection, DNS resolution, and IP geolocation details for risk assessment.</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Identifies potential security risks using the results obtained from the previous modules.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Generates a security report containing URL analysis results and relevant website information.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Displays the final risk classification and security warnings through a user-friendly web interface.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Optionally stores URL analysis history in MongoDB for future reference.</a:t>
            </a:r>
          </a:p>
          <a:p>
            <a:endParaRPr lang="en-IN" dirty="0"/>
          </a:p>
        </p:txBody>
      </p:sp>
    </p:spTree>
    <p:extLst>
      <p:ext uri="{BB962C8B-B14F-4D97-AF65-F5344CB8AC3E}">
        <p14:creationId xmlns:p14="http://schemas.microsoft.com/office/powerpoint/2010/main" val="3738718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71FC-1D71-FEEC-2638-A48F4E6F72C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AD12B34-B49E-BD5A-BA4D-3D48889CE59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90E9DC3F-B9A1-DDEF-142C-9F364EB3C3BD}"/>
              </a:ext>
            </a:extLst>
          </p:cNvPr>
          <p:cNvSpPr txBox="1"/>
          <p:nvPr/>
        </p:nvSpPr>
        <p:spPr>
          <a:xfrm>
            <a:off x="1324316" y="627959"/>
            <a:ext cx="9186204"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Conclusion</a:t>
            </a:r>
          </a:p>
        </p:txBody>
      </p:sp>
      <p:pic>
        <p:nvPicPr>
          <p:cNvPr id="9" name="Picture 8">
            <a:extLst>
              <a:ext uri="{FF2B5EF4-FFF2-40B4-BE49-F238E27FC236}">
                <a16:creationId xmlns:a16="http://schemas.microsoft.com/office/drawing/2014/main" id="{C1EA7F08-6528-FE52-446F-99FAE9D7242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E8B65D53-AE1D-76F6-9D1B-255A3B1C0E90}"/>
              </a:ext>
            </a:extLst>
          </p:cNvPr>
          <p:cNvSpPr txBox="1"/>
          <p:nvPr/>
        </p:nvSpPr>
        <p:spPr>
          <a:xfrm>
            <a:off x="1053916" y="1780298"/>
            <a:ext cx="10278207" cy="4191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LinkReveal expands shortened URLs and reveals their actual destination websites.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Detects potential phishing and malware threats using Google Safe Browsing API.</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Analyzes DNS records, server IP addresses, and approximate geographical locations.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Classifies URLs as Safe, Suspicious, or Malicious based on security analysis.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Generates clear security reports to help users identify risks and promote safer browsing practices.</a:t>
            </a: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Uses RAM caching to improve analysis speed and reduce repeated lookup operations.</a:t>
            </a: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Optionally stores analysis history in MongoDB for future reference and review.</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566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24BC-9CA6-20F2-071B-E56E6F053AC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E1E217-13C8-24AF-BD86-4898B425A6F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F0F864CF-F2AB-F4C3-30BB-6D01DEC38059}"/>
              </a:ext>
            </a:extLst>
          </p:cNvPr>
          <p:cNvSpPr txBox="1"/>
          <p:nvPr/>
        </p:nvSpPr>
        <p:spPr>
          <a:xfrm>
            <a:off x="1324316" y="627959"/>
            <a:ext cx="9186204"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Future Enhancement</a:t>
            </a:r>
          </a:p>
        </p:txBody>
      </p:sp>
      <p:pic>
        <p:nvPicPr>
          <p:cNvPr id="9" name="Picture 8">
            <a:extLst>
              <a:ext uri="{FF2B5EF4-FFF2-40B4-BE49-F238E27FC236}">
                <a16:creationId xmlns:a16="http://schemas.microsoft.com/office/drawing/2014/main" id="{557AD2D3-7C2E-D1E3-E77C-801BF35FC84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B15D346D-C757-820B-A031-D49A37218C94}"/>
              </a:ext>
            </a:extLst>
          </p:cNvPr>
          <p:cNvSpPr txBox="1"/>
          <p:nvPr/>
        </p:nvSpPr>
        <p:spPr>
          <a:xfrm>
            <a:off x="992370" y="1682294"/>
            <a:ext cx="10278207" cy="511531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Integrate advanced machine learning techniques to improve the detection of phishing and malicious URLs.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Expand threat detection using updated threat intelligence databases and additional security APIs.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 redirect analysis to handle complex and multi-level URL redirection chains.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Enhance IP geolocation analysis to provide more detailed server location information.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Develop a downloadable security report feature for saving and sharing analysis results.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 the user interface with real-time alerts and detailed security recommendations.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Enhance the analysis history feature to support better tracking and review of previously scanned URLs.</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491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A060-4F6C-730A-97F2-F14052FF641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B5ABAE-504A-423F-6699-15825C142D9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10520" y="60325"/>
            <a:ext cx="1520114" cy="1342884"/>
          </a:xfrm>
          <a:prstGeom prst="rect">
            <a:avLst/>
          </a:prstGeom>
          <a:noFill/>
          <a:ln>
            <a:noFill/>
          </a:ln>
        </p:spPr>
      </p:pic>
      <p:sp>
        <p:nvSpPr>
          <p:cNvPr id="8" name="TextBox 7">
            <a:extLst>
              <a:ext uri="{FF2B5EF4-FFF2-40B4-BE49-F238E27FC236}">
                <a16:creationId xmlns:a16="http://schemas.microsoft.com/office/drawing/2014/main" id="{476BA439-2D5E-F26B-CC11-82FC30796CD2}"/>
              </a:ext>
            </a:extLst>
          </p:cNvPr>
          <p:cNvSpPr txBox="1"/>
          <p:nvPr/>
        </p:nvSpPr>
        <p:spPr>
          <a:xfrm>
            <a:off x="1324316" y="627959"/>
            <a:ext cx="9186204"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References</a:t>
            </a:r>
          </a:p>
        </p:txBody>
      </p:sp>
      <p:pic>
        <p:nvPicPr>
          <p:cNvPr id="9" name="Picture 8">
            <a:extLst>
              <a:ext uri="{FF2B5EF4-FFF2-40B4-BE49-F238E27FC236}">
                <a16:creationId xmlns:a16="http://schemas.microsoft.com/office/drawing/2014/main" id="{5F1E3544-D9BD-6538-CBC4-377850BA227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28600" y="60395"/>
            <a:ext cx="1135117" cy="1342884"/>
          </a:xfrm>
          <a:prstGeom prst="rect">
            <a:avLst/>
          </a:prstGeom>
          <a:noFill/>
        </p:spPr>
      </p:pic>
      <p:sp>
        <p:nvSpPr>
          <p:cNvPr id="2" name="TextBox 1">
            <a:extLst>
              <a:ext uri="{FF2B5EF4-FFF2-40B4-BE49-F238E27FC236}">
                <a16:creationId xmlns:a16="http://schemas.microsoft.com/office/drawing/2014/main" id="{E3FDF24B-32BE-00B0-863E-1EA9B952BB48}"/>
              </a:ext>
            </a:extLst>
          </p:cNvPr>
          <p:cNvSpPr txBox="1"/>
          <p:nvPr/>
        </p:nvSpPr>
        <p:spPr>
          <a:xfrm>
            <a:off x="992370" y="1682294"/>
            <a:ext cx="10543138" cy="4191981"/>
          </a:xfrm>
          <a:prstGeom prst="rect">
            <a:avLst/>
          </a:prstGeom>
          <a:noFill/>
        </p:spPr>
        <p:txBody>
          <a:bodyPr wrap="square" rtlCol="0">
            <a:spAutoFit/>
          </a:bodyPr>
          <a:lstStyle/>
          <a:p>
            <a:pPr marL="34290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 Author and B. Author, "Detection of Malicious URLs and Obfuscated Phishing Attacks in Mobile Environments," </a:t>
            </a:r>
            <a:r>
              <a:rPr lang="en-US" altLang="en-US" sz="2000" i="1" dirty="0">
                <a:latin typeface="Times New Roman" panose="02020603050405020304" pitchFamily="18" charset="0"/>
                <a:cs typeface="Times New Roman" panose="02020603050405020304" pitchFamily="18" charset="0"/>
              </a:rPr>
              <a:t>IEEE Transactions on Information Forensics and Security</a:t>
            </a:r>
            <a:r>
              <a:rPr lang="en-US" altLang="en-US" sz="2000" dirty="0">
                <a:latin typeface="Times New Roman" panose="02020603050405020304" pitchFamily="18" charset="0"/>
                <a:cs typeface="Times New Roman" panose="02020603050405020304" pitchFamily="18" charset="0"/>
              </a:rPr>
              <a:t>, vol. 18, pp. 120-135, 2023.</a:t>
            </a:r>
          </a:p>
          <a:p>
            <a:pPr marL="34290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C. Author and D. Author, "Analyzing HTTP Redirect Chains for Evasive Malware Detection," in </a:t>
            </a:r>
            <a:r>
              <a:rPr lang="en-US" altLang="en-US" sz="2000" i="1" dirty="0">
                <a:latin typeface="Times New Roman" panose="02020603050405020304" pitchFamily="18" charset="0"/>
                <a:cs typeface="Times New Roman" panose="02020603050405020304" pitchFamily="18" charset="0"/>
              </a:rPr>
              <a:t>Proc. IEEE International Conference on Communications (ICC)</a:t>
            </a:r>
            <a:r>
              <a:rPr lang="en-US" altLang="en-US" sz="2000" dirty="0">
                <a:latin typeface="Times New Roman" panose="02020603050405020304" pitchFamily="18" charset="0"/>
                <a:cs typeface="Times New Roman" panose="02020603050405020304" pitchFamily="18" charset="0"/>
              </a:rPr>
              <a:t>, 2022, pp. 1-6.</a:t>
            </a:r>
          </a:p>
          <a:p>
            <a:pPr marL="34290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 Author and F. Author, "Privacy-Preserving On-Device Threat Intelligence Logging for Mobile Networks," </a:t>
            </a:r>
            <a:r>
              <a:rPr lang="en-US" altLang="en-US" sz="2000" i="1" dirty="0">
                <a:latin typeface="Times New Roman" panose="02020603050405020304" pitchFamily="18" charset="0"/>
                <a:cs typeface="Times New Roman" panose="02020603050405020304" pitchFamily="18" charset="0"/>
              </a:rPr>
              <a:t>IEEE Internet of Things Journal</a:t>
            </a:r>
            <a:r>
              <a:rPr lang="en-US" altLang="en-US" sz="2000" dirty="0">
                <a:latin typeface="Times New Roman" panose="02020603050405020304" pitchFamily="18" charset="0"/>
                <a:cs typeface="Times New Roman" panose="02020603050405020304" pitchFamily="18" charset="0"/>
              </a:rPr>
              <a:t>, vol. 9, no. 12, pp. 9500-9512, 2022.</a:t>
            </a:r>
          </a:p>
          <a:p>
            <a:pPr marL="34290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G. Author, "Bypassing Data Center Firewalls: Network Resilience in Cloud-Based Security Scanners," </a:t>
            </a:r>
            <a:r>
              <a:rPr lang="en-US" altLang="en-US" sz="2000" i="1" dirty="0">
                <a:latin typeface="Times New Roman" panose="02020603050405020304" pitchFamily="18" charset="0"/>
                <a:cs typeface="Times New Roman" panose="02020603050405020304" pitchFamily="18" charset="0"/>
              </a:rPr>
              <a:t>IEEE Transactions on Network and Service Management</a:t>
            </a:r>
            <a:r>
              <a:rPr lang="en-US" altLang="en-US" sz="2000" dirty="0">
                <a:latin typeface="Times New Roman" panose="02020603050405020304" pitchFamily="18" charset="0"/>
                <a:cs typeface="Times New Roman" panose="02020603050405020304" pitchFamily="18" charset="0"/>
              </a:rPr>
              <a:t>, vol. 20, pp. 450-462, 2023.</a:t>
            </a:r>
          </a:p>
        </p:txBody>
      </p:sp>
    </p:spTree>
    <p:extLst>
      <p:ext uri="{BB962C8B-B14F-4D97-AF65-F5344CB8AC3E}">
        <p14:creationId xmlns:p14="http://schemas.microsoft.com/office/powerpoint/2010/main" val="2224272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650D-7BA1-DED2-2B5B-4294036D0E5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25900E9-B747-6C89-571E-E85CF1D138F6}"/>
              </a:ext>
            </a:extLst>
          </p:cNvPr>
          <p:cNvSpPr txBox="1"/>
          <p:nvPr/>
        </p:nvSpPr>
        <p:spPr>
          <a:xfrm>
            <a:off x="3875089" y="3226144"/>
            <a:ext cx="6100916" cy="861774"/>
          </a:xfrm>
          <a:prstGeom prst="rect">
            <a:avLst/>
          </a:prstGeom>
          <a:noFill/>
        </p:spPr>
        <p:txBody>
          <a:bodyPr wrap="square">
            <a:spAutoFit/>
          </a:bodyPr>
          <a:lstStyle/>
          <a:p>
            <a:endParaRPr lang="en-IN" sz="5000" dirty="0">
              <a:latin typeface="Times New Roman" panose="02020603050405020304" pitchFamily="18" charset="0"/>
              <a:cs typeface="Times New Roman" panose="02020603050405020304" pitchFamily="18" charset="0"/>
            </a:endParaRPr>
          </a:p>
        </p:txBody>
      </p:sp>
      <p:pic>
        <p:nvPicPr>
          <p:cNvPr id="7" name="Google Shape;109;p14" descr="SSE-Computer Science and Engineering">
            <a:extLst>
              <a:ext uri="{FF2B5EF4-FFF2-40B4-BE49-F238E27FC236}">
                <a16:creationId xmlns:a16="http://schemas.microsoft.com/office/drawing/2014/main" id="{5D9C3077-DCB4-F570-0C17-E016B1F4192E}"/>
              </a:ext>
            </a:extLst>
          </p:cNvPr>
          <p:cNvPicPr preferRelativeResize="0"/>
          <p:nvPr/>
        </p:nvPicPr>
        <p:blipFill rotWithShape="1">
          <a:blip r:embed="rId2"/>
          <a:srcRect/>
          <a:stretch>
            <a:fillRect/>
          </a:stretch>
        </p:blipFill>
        <p:spPr>
          <a:xfrm>
            <a:off x="486138" y="385628"/>
            <a:ext cx="11065396" cy="1109630"/>
          </a:xfrm>
          <a:prstGeom prst="rect">
            <a:avLst/>
          </a:prstGeom>
          <a:noFill/>
          <a:ln>
            <a:noFill/>
          </a:ln>
        </p:spPr>
      </p:pic>
      <p:pic>
        <p:nvPicPr>
          <p:cNvPr id="2" name="Picture 1">
            <a:extLst>
              <a:ext uri="{FF2B5EF4-FFF2-40B4-BE49-F238E27FC236}">
                <a16:creationId xmlns:a16="http://schemas.microsoft.com/office/drawing/2014/main" id="{B6AE635D-929C-CE4C-EDCA-E5B968861CF5}"/>
              </a:ext>
            </a:extLst>
          </p:cNvPr>
          <p:cNvPicPr>
            <a:picLocks noChangeAspect="1"/>
          </p:cNvPicPr>
          <p:nvPr/>
        </p:nvPicPr>
        <p:blipFill>
          <a:blip r:embed="rId3"/>
          <a:stretch>
            <a:fillRect/>
          </a:stretch>
        </p:blipFill>
        <p:spPr>
          <a:xfrm>
            <a:off x="1538654" y="2011973"/>
            <a:ext cx="8801099" cy="3615104"/>
          </a:xfrm>
          <a:prstGeom prst="rect">
            <a:avLst/>
          </a:prstGeom>
        </p:spPr>
      </p:pic>
    </p:spTree>
    <p:extLst>
      <p:ext uri="{BB962C8B-B14F-4D97-AF65-F5344CB8AC3E}">
        <p14:creationId xmlns:p14="http://schemas.microsoft.com/office/powerpoint/2010/main" val="207015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1173</TotalTime>
  <Words>1548</Words>
  <Application>Microsoft Office PowerPoint</Application>
  <PresentationFormat>Widescreen</PresentationFormat>
  <Paragraphs>136</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Rupavathi Chevula</dc:creator>
  <cp:lastModifiedBy>Hari Reddy</cp:lastModifiedBy>
  <cp:revision>70</cp:revision>
  <dcterms:created xsi:type="dcterms:W3CDTF">2025-09-15T14:32:16Z</dcterms:created>
  <dcterms:modified xsi:type="dcterms:W3CDTF">2026-10-26T04:06:37Z</dcterms:modified>
</cp:coreProperties>
</file>